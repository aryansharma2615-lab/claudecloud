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V v8" id="{626cf5f2-c53f-dfbf-564c-891b0ea23950}">
          <p14:sldIdLst>
            <p14:sldId id="256"/>
          </p14:sldIdLst>
        </p14:section>
        <p14:section name="Phases" id="{f9ef23bc-f308-cb02-8c49-5cfd9da64051}">
          <p14:sldIdLst>
            <p14:sldId id="257"/>
          </p14:sldIdLst>
        </p14:section>
        <p14:section name="Physics" id="{7eb61782-cc38-b658-e396-43e0cf0d31eb}">
          <p14:sldIdLst>
            <p14:sldId id="258"/>
          </p14:sldIdLst>
        </p14:section>
        <p14:section name="Findings" id="{9cdc3339-aef5-f180-7b91-5c90147b7775}">
          <p14:sldIdLst>
            <p14:sldId id="259"/>
          </p14:sldIdLst>
        </p14:section>
        <p14:section name="Next" id="{22190048-089f-f0cb-91bf-a0dc8b57a568}">
          <p14:sldIdLst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v8 adds a guided four-phase mode on top of everything v7 did. The point: every number on screen says where it came from, and the load test is a real hand calculation, cross-checked by PyBullet.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phase is a URL: the hash carries the phase, camera, explode, section cut and load, so a client opens exactly what you saw.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Torque = force × distance. 5 kg at 35 mm is 17.5 kgf·cm, almost ten times the SG90's stall, so the servo stalls long before the printed arm breaks. The fillet is margin.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of these were fixed in CAD. The third needs real calipers on a real SG90: until then the tile honestly reads FAIL on ASSUMED inputs.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Agency 3D microsites run $3,000–8,000; basic viewers from ~$400. SP's edge is the engineering proof, not the turntable.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_DARK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Shawarma Prints · Designed in Vaughan, ON · Prototyped on Ender 3 S1 Pro · Toronto, Canada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P_CONTENT">
    <p:bg>
      <p:bgPr>
        <a:solidFill>
          <a:srgbClr val="1414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bg2"/>
                </a:solidFill>
              </a:rPr>
              <a:t>Shawarma Prints · Designed in Vaughan, ON · Prototyped on Ender 3 S1 Pro · Toronto, Canada</a:t>
            </a:r>
            <a:endParaRPr lang="en-US" sz="9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457200" y="548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AV v8</a:t>
            </a:r>
            <a:endParaRPr lang="en-US" sz="1800" dirty="0"/>
          </a:p>
        </p:txBody>
      </p:sp>
      <p:sp>
        <p:nvSpPr>
          <p:cNvPr id="3" name="headline"/>
          <p:cNvSpPr txBox="1"/>
          <p:nvPr/>
        </p:nvSpPr>
        <p:spPr>
          <a:xfrm>
            <a:off x="457200" y="105156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See if it fits, bolts up and holds — before you print it</a:t>
            </a:r>
            <a:endParaRPr lang="en-US" sz="3200" dirty="0"/>
          </a:p>
        </p:txBody>
      </p:sp>
      <p:sp>
        <p:nvSpPr>
          <p:cNvPr id="4" name="sub"/>
          <p:cNvSpPr txBox="1"/>
          <p:nvPr/>
        </p:nvSpPr>
        <p:spPr>
          <a:xfrm>
            <a:off x="457200" y="29718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Shawarma Servo Mount v1 · LOAD → FIT → SECURE → TEST · one link, every number with its source</a:t>
            </a:r>
            <a:endParaRPr lang="en-US" sz="1400" dirty="0"/>
          </a:p>
        </p:txBody>
      </p:sp>
      <p:pic>
        <p:nvPicPr>
          <p:cNvPr id="5" name="hero" descr="/home/user/claudecloud/sp_av_v6_bundle/shots_v8/servo_mount/v8_test_1280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502920"/>
            <a:ext cx="4206240" cy="2628900"/>
          </a:xfrm>
          <a:prstGeom prst="rect">
            <a:avLst/>
          </a:prstGeom>
        </p:spPr>
      </p:pic>
      <p:sp>
        <p:nvSpPr>
          <p:cNvPr id="6" name="caption"/>
          <p:cNvSpPr txBox="1"/>
          <p:nvPr/>
        </p:nvSpPr>
        <p:spPr>
          <a:xfrm>
            <a:off x="4572000" y="32004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98"/>
                </a:solidFill>
              </a:rPr>
              <a:t>TEST phase: 2.0 kg on the arm — the SG90 stalls first (red), the arm root carries the stress.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Four taps tell the whole story</a:t>
            </a:r>
            <a:endParaRPr lang="en-US" sz="3000" dirty="0"/>
          </a:p>
        </p:txBody>
      </p:sp>
      <p:pic>
        <p:nvPicPr>
          <p:cNvPr id="3" name="shot_load" descr="/home/user/claudecloud/sp_av_v6_bundle/shots_v8/servo_mount/v8_load_390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1463040" cy="3163824"/>
          </a:xfrm>
          <a:prstGeom prst="rect">
            <a:avLst/>
          </a:prstGeom>
        </p:spPr>
      </p:pic>
      <p:sp>
        <p:nvSpPr>
          <p:cNvPr id="4" name="lab_load"/>
          <p:cNvSpPr txBox="1"/>
          <p:nvPr/>
        </p:nvSpPr>
        <p:spPr>
          <a:xfrm>
            <a:off x="45720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1  LOAD</a:t>
            </a:r>
            <a:endParaRPr lang="en-US" sz="1400" dirty="0"/>
          </a:p>
        </p:txBody>
      </p:sp>
      <p:sp>
        <p:nvSpPr>
          <p:cNvPr id="5" name="cap_load"/>
          <p:cNvSpPr txBox="1"/>
          <p:nvPr/>
        </p:nvSpPr>
        <p:spPr>
          <a:xfrm>
            <a:off x="45720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mass + print time, from G-code</a:t>
            </a:r>
            <a:endParaRPr lang="en-US" sz="1000" dirty="0"/>
          </a:p>
        </p:txBody>
      </p:sp>
      <p:pic>
        <p:nvPicPr>
          <p:cNvPr id="6" name="shot_fit" descr="/home/user/claudecloud/sp_av_v6_bundle/shots_v8/servo_mount/v8_fit_390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1051560"/>
            <a:ext cx="1463040" cy="3163824"/>
          </a:xfrm>
          <a:prstGeom prst="rect">
            <a:avLst/>
          </a:prstGeom>
        </p:spPr>
      </p:pic>
      <p:sp>
        <p:nvSpPr>
          <p:cNvPr id="7" name="lab_fit"/>
          <p:cNvSpPr txBox="1"/>
          <p:nvPr/>
        </p:nvSpPr>
        <p:spPr>
          <a:xfrm>
            <a:off x="256032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2  FIT</a:t>
            </a:r>
            <a:endParaRPr lang="en-US" sz="1400" dirty="0"/>
          </a:p>
        </p:txBody>
      </p:sp>
      <p:sp>
        <p:nvSpPr>
          <p:cNvPr id="8" name="cap_fit"/>
          <p:cNvSpPr txBox="1"/>
          <p:nvPr/>
        </p:nvSpPr>
        <p:spPr>
          <a:xfrm>
            <a:off x="256032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holes coloured by how YOUR printer prints</a:t>
            </a:r>
            <a:endParaRPr lang="en-US" sz="1000" dirty="0"/>
          </a:p>
        </p:txBody>
      </p:sp>
      <p:pic>
        <p:nvPicPr>
          <p:cNvPr id="9" name="shot_secure" descr="/home/user/claudecloud/sp_av_v6_bundle/shots_v8/servo_mount/v8_secure_390_dar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051560"/>
            <a:ext cx="1463040" cy="3163824"/>
          </a:xfrm>
          <a:prstGeom prst="rect">
            <a:avLst/>
          </a:prstGeom>
        </p:spPr>
      </p:pic>
      <p:sp>
        <p:nvSpPr>
          <p:cNvPr id="10" name="lab_secure"/>
          <p:cNvSpPr txBox="1"/>
          <p:nvPr/>
        </p:nvSpPr>
        <p:spPr>
          <a:xfrm>
            <a:off x="466344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3  SECURE</a:t>
            </a:r>
            <a:endParaRPr lang="en-US" sz="1400" dirty="0"/>
          </a:p>
        </p:txBody>
      </p:sp>
      <p:sp>
        <p:nvSpPr>
          <p:cNvPr id="11" name="cap_secure"/>
          <p:cNvSpPr txBox="1"/>
          <p:nvPr/>
        </p:nvSpPr>
        <p:spPr>
          <a:xfrm>
            <a:off x="466344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auto-build: 240 °C inserts, screws from their side</a:t>
            </a:r>
            <a:endParaRPr lang="en-US" sz="1000" dirty="0"/>
          </a:p>
        </p:txBody>
      </p:sp>
      <p:pic>
        <p:nvPicPr>
          <p:cNvPr id="12" name="shot_test" descr="/home/user/claudecloud/sp_av_v6_bundle/shots_v8/servo_mount/v8_test_390_dar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1051560"/>
            <a:ext cx="1463040" cy="3163824"/>
          </a:xfrm>
          <a:prstGeom prst="rect">
            <a:avLst/>
          </a:prstGeom>
        </p:spPr>
      </p:pic>
      <p:sp>
        <p:nvSpPr>
          <p:cNvPr id="13" name="lab_test"/>
          <p:cNvSpPr txBox="1"/>
          <p:nvPr/>
        </p:nvSpPr>
        <p:spPr>
          <a:xfrm>
            <a:off x="6766560" y="4224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4  TEST</a:t>
            </a:r>
            <a:endParaRPr lang="en-US" sz="1400" dirty="0"/>
          </a:p>
        </p:txBody>
      </p:sp>
      <p:sp>
        <p:nvSpPr>
          <p:cNvPr id="14" name="cap_test"/>
          <p:cNvSpPr txBox="1"/>
          <p:nvPr/>
        </p:nvSpPr>
        <p:spPr>
          <a:xfrm>
            <a:off x="6766560" y="44805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drag the load, see what breaks first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The servo is the fuse</a:t>
            </a:r>
            <a:endParaRPr lang="en-US" sz="3000" dirty="0"/>
          </a:p>
        </p:txBody>
      </p:sp>
      <p:sp>
        <p:nvSpPr>
          <p:cNvPr id="3" name="card0"/>
          <p:cNvSpPr/>
          <p:nvPr/>
        </p:nvSpPr>
        <p:spPr>
          <a:xfrm>
            <a:off x="457200" y="11887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6292D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4" name="big0"/>
          <p:cNvSpPr txBox="1"/>
          <p:nvPr/>
        </p:nvSpPr>
        <p:spPr>
          <a:xfrm>
            <a:off x="59436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03B3B"/>
                </a:solidFill>
              </a:rPr>
              <a:t>0.51 kg</a:t>
            </a:r>
            <a:endParaRPr lang="en-US" sz="3200" dirty="0"/>
          </a:p>
        </p:txBody>
      </p:sp>
      <p:sp>
        <p:nvSpPr>
          <p:cNvPr id="5" name="lab0"/>
          <p:cNvSpPr txBox="1"/>
          <p:nvPr/>
        </p:nvSpPr>
        <p:spPr>
          <a:xfrm>
            <a:off x="59436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SG90 stalls</a:t>
            </a:r>
            <a:endParaRPr lang="en-US" sz="1400" dirty="0"/>
          </a:p>
        </p:txBody>
      </p:sp>
      <p:sp>
        <p:nvSpPr>
          <p:cNvPr id="6" name="src0"/>
          <p:cNvSpPr txBox="1"/>
          <p:nvPr/>
        </p:nvSpPr>
        <p:spPr>
          <a:xfrm>
            <a:off x="59436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1.8 kgf·cm DATASHEET ÷ 35 mm lever</a:t>
            </a:r>
            <a:endParaRPr lang="en-US" sz="1000" dirty="0"/>
          </a:p>
        </p:txBody>
      </p:sp>
      <p:sp>
        <p:nvSpPr>
          <p:cNvPr id="7" name="card1"/>
          <p:cNvSpPr/>
          <p:nvPr/>
        </p:nvSpPr>
        <p:spPr>
          <a:xfrm>
            <a:off x="2560320" y="11887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6292D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8" name="big1"/>
          <p:cNvSpPr txBox="1"/>
          <p:nvPr/>
        </p:nvSpPr>
        <p:spPr>
          <a:xfrm>
            <a:off x="269748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AB219"/>
                </a:solidFill>
              </a:rPr>
              <a:t>2.24 kg</a:t>
            </a:r>
            <a:endParaRPr lang="en-US" sz="3200" dirty="0"/>
          </a:p>
        </p:txBody>
      </p:sp>
      <p:sp>
        <p:nvSpPr>
          <p:cNvPr id="9" name="lab1"/>
          <p:cNvSpPr txBox="1"/>
          <p:nvPr/>
        </p:nvSpPr>
        <p:spPr>
          <a:xfrm>
            <a:off x="269748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arm root snaps, sharp step</a:t>
            </a:r>
            <a:endParaRPr lang="en-US" sz="1400" dirty="0"/>
          </a:p>
        </p:txBody>
      </p:sp>
      <p:sp>
        <p:nvSpPr>
          <p:cNvPr id="10" name="src1"/>
          <p:cNvSpPr txBox="1"/>
          <p:nvPr/>
        </p:nvSpPr>
        <p:spPr>
          <a:xfrm>
            <a:off x="269748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Kt 2.43 (Peterson) · CALC</a:t>
            </a:r>
            <a:endParaRPr lang="en-US" sz="1000" dirty="0"/>
          </a:p>
        </p:txBody>
      </p:sp>
      <p:sp>
        <p:nvSpPr>
          <p:cNvPr id="11" name="card2"/>
          <p:cNvSpPr/>
          <p:nvPr/>
        </p:nvSpPr>
        <p:spPr>
          <a:xfrm>
            <a:off x="4663440" y="11887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6292D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12" name="big2"/>
          <p:cNvSpPr txBox="1"/>
          <p:nvPr/>
        </p:nvSpPr>
        <p:spPr>
          <a:xfrm>
            <a:off x="480060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A30C"/>
                </a:solidFill>
              </a:rPr>
              <a:t>4.05 kg</a:t>
            </a:r>
            <a:endParaRPr lang="en-US" sz="3200" dirty="0"/>
          </a:p>
        </p:txBody>
      </p:sp>
      <p:sp>
        <p:nvSpPr>
          <p:cNvPr id="13" name="lab2"/>
          <p:cNvSpPr txBox="1"/>
          <p:nvPr/>
        </p:nvSpPr>
        <p:spPr>
          <a:xfrm>
            <a:off x="480060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with a 2 mm fillet</a:t>
            </a:r>
            <a:endParaRPr lang="en-US" sz="1400" dirty="0"/>
          </a:p>
        </p:txBody>
      </p:sp>
      <p:sp>
        <p:nvSpPr>
          <p:cNvPr id="14" name="src2"/>
          <p:cNvSpPr txBox="1"/>
          <p:nvPr/>
        </p:nvSpPr>
        <p:spPr>
          <a:xfrm>
            <a:off x="480060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Kt 1.34 · CALC</a:t>
            </a:r>
            <a:endParaRPr lang="en-US" sz="1000" dirty="0"/>
          </a:p>
        </p:txBody>
      </p:sp>
      <p:sp>
        <p:nvSpPr>
          <p:cNvPr id="15" name="card3"/>
          <p:cNvSpPr/>
          <p:nvPr/>
        </p:nvSpPr>
        <p:spPr>
          <a:xfrm>
            <a:off x="6766560" y="1188720"/>
            <a:ext cx="1920240" cy="2377440"/>
          </a:xfrm>
          <a:prstGeom prst="roundRect">
            <a:avLst>
              <a:gd name="adj" fmla="val 5714"/>
            </a:avLst>
          </a:prstGeom>
          <a:solidFill>
            <a:srgbClr val="26292D"/>
          </a:solidFill>
          <a:ln w="12700">
            <a:solidFill>
              <a:srgbClr val="3A3D42"/>
            </a:solidFill>
            <a:prstDash val="solid"/>
          </a:ln>
        </p:spPr>
      </p:sp>
      <p:sp>
        <p:nvSpPr>
          <p:cNvPr id="16" name="big3"/>
          <p:cNvSpPr txBox="1"/>
          <p:nvPr/>
        </p:nvSpPr>
        <p:spPr>
          <a:xfrm>
            <a:off x="6903720" y="137160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A78D6"/>
                </a:solidFill>
              </a:rPr>
              <a:t>0.10 %</a:t>
            </a:r>
            <a:endParaRPr lang="en-US" sz="3200" dirty="0"/>
          </a:p>
        </p:txBody>
      </p:sp>
      <p:sp>
        <p:nvSpPr>
          <p:cNvPr id="17" name="lab3"/>
          <p:cNvSpPr txBox="1"/>
          <p:nvPr/>
        </p:nvSpPr>
        <p:spPr>
          <a:xfrm>
            <a:off x="6903720" y="2240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PyBullet vs hand calc</a:t>
            </a:r>
            <a:endParaRPr lang="en-US" sz="1400" dirty="0"/>
          </a:p>
        </p:txBody>
      </p:sp>
      <p:sp>
        <p:nvSpPr>
          <p:cNvPr id="18" name="src3"/>
          <p:cNvSpPr txBox="1"/>
          <p:nvPr/>
        </p:nvSpPr>
        <p:spPr>
          <a:xfrm>
            <a:off x="6903720" y="29260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inverse-dynamics torque</a:t>
            </a:r>
            <a:endParaRPr lang="en-US" sz="1000" dirty="0"/>
          </a:p>
        </p:txBody>
      </p:sp>
      <p:sp>
        <p:nvSpPr>
          <p:cNvPr id="19" name="take"/>
          <p:cNvSpPr txBox="1"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bg2"/>
                </a:solidFill>
              </a:rPr>
              <a:t>The cheap part gives up first, safely — the bracket outlives the servo by 4.4× (arm SF at stall).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Caught before a gram was printed</a:t>
            </a:r>
            <a:endParaRPr lang="en-US" sz="3000" dirty="0"/>
          </a:p>
        </p:txBody>
      </p:sp>
      <p:sp>
        <p:nvSpPr>
          <p:cNvPr id="3" name="dot0"/>
          <p:cNvSpPr/>
          <p:nvPr/>
        </p:nvSpPr>
        <p:spPr>
          <a:xfrm>
            <a:off x="457200" y="1207008"/>
            <a:ext cx="384048" cy="384048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4" name="fh0"/>
          <p:cNvSpPr txBox="1"/>
          <p:nvPr/>
        </p:nvSpPr>
        <p:spPr>
          <a:xfrm>
            <a:off x="1005840" y="1097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Tips over</a:t>
            </a:r>
            <a:endParaRPr lang="en-US" sz="1800" dirty="0"/>
          </a:p>
        </p:txBody>
      </p:sp>
      <p:sp>
        <p:nvSpPr>
          <p:cNvPr id="5" name="ft0"/>
          <p:cNvSpPr txBox="1"/>
          <p:nvPr/>
        </p:nvSpPr>
        <p:spPr>
          <a:xfrm>
            <a:off x="1005840" y="1481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CoG 8.0 mm outside the base with 200 g → base under the load: 12.1 mm inside</a:t>
            </a:r>
            <a:endParaRPr lang="en-US" sz="1200" dirty="0"/>
          </a:p>
        </p:txBody>
      </p:sp>
      <p:sp>
        <p:nvSpPr>
          <p:cNvPr id="6" name="dot1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rgbClr val="0CA30C"/>
          </a:solidFill>
          <a:ln w="12700">
            <a:solidFill>
              <a:srgbClr val="0CA30C"/>
            </a:solidFill>
            <a:prstDash val="solid"/>
          </a:ln>
        </p:spPr>
      </p:sp>
      <p:sp>
        <p:nvSpPr>
          <p:cNvPr id="7" name="fh1"/>
          <p:cNvSpPr txBox="1"/>
          <p:nvPr/>
        </p:nvSpPr>
        <p:spPr>
          <a:xfrm>
            <a:off x="1005840" y="2240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Pilot too tight</a:t>
            </a:r>
            <a:endParaRPr lang="en-US" sz="1800" dirty="0"/>
          </a:p>
        </p:txBody>
      </p:sp>
      <p:sp>
        <p:nvSpPr>
          <p:cNvPr id="8" name="ft1"/>
          <p:cNvSpPr txBox="1"/>
          <p:nvPr/>
        </p:nvSpPr>
        <p:spPr>
          <a:xfrm>
            <a:off x="1005840" y="2624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Ø1.5 prints Ø1.13 (split risk) → Ø1.8 CAD prints Ø1.48: a clean M2 bite</a:t>
            </a:r>
            <a:endParaRPr lang="en-US" sz="1200" dirty="0"/>
          </a:p>
        </p:txBody>
      </p:sp>
      <p:sp>
        <p:nvSpPr>
          <p:cNvPr id="9" name="dot2"/>
          <p:cNvSpPr/>
          <p:nvPr/>
        </p:nvSpPr>
        <p:spPr>
          <a:xfrm>
            <a:off x="457200" y="3493008"/>
            <a:ext cx="384048" cy="384048"/>
          </a:xfrm>
          <a:prstGeom prst="ellipse">
            <a:avLst/>
          </a:prstGeom>
          <a:solidFill>
            <a:srgbClr val="D03B3B"/>
          </a:solidFill>
          <a:ln w="12700">
            <a:solidFill>
              <a:srgbClr val="D03B3B"/>
            </a:solidFill>
            <a:prstDash val="solid"/>
          </a:ln>
        </p:spPr>
      </p:sp>
      <p:sp>
        <p:nvSpPr>
          <p:cNvPr id="10" name="fh2"/>
          <p:cNvSpPr txBox="1"/>
          <p:nvPr/>
        </p:nvSpPr>
        <p:spPr>
          <a:xfrm>
            <a:off x="1005840" y="33832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SG90 may not fit</a:t>
            </a:r>
            <a:endParaRPr lang="en-US" sz="1800" dirty="0"/>
          </a:p>
        </p:txBody>
      </p:sp>
      <p:sp>
        <p:nvSpPr>
          <p:cNvPr id="11" name="ft2"/>
          <p:cNvSpPr txBox="1"/>
          <p:nvPr/>
        </p:nvSpPr>
        <p:spPr>
          <a:xfrm>
            <a:off x="1005840" y="3767328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datasheets disagree by 0.8 mm → worst-case window −0.10 mm: calipers first</a:t>
            </a:r>
            <a:endParaRPr lang="en-US" sz="1200" dirty="0"/>
          </a:p>
        </p:txBody>
      </p:sp>
      <p:pic>
        <p:nvPicPr>
          <p:cNvPr id="12" name="rings" descr="/home/user/claudecloud/sp_av_v6_bundle/shots_v8/servo_mount/v8_fit_ring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097280"/>
            <a:ext cx="3931920" cy="2459736"/>
          </a:xfrm>
          <a:prstGeom prst="rect">
            <a:avLst/>
          </a:prstGeom>
        </p:spPr>
      </p:pic>
      <p:sp>
        <p:nvSpPr>
          <p:cNvPr id="13" name="rcap"/>
          <p:cNvSpPr txBox="1"/>
          <p:nvPr/>
        </p:nvSpPr>
        <p:spPr>
          <a:xfrm>
            <a:off x="4754880" y="36118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F98"/>
                </a:solidFill>
              </a:rPr>
              <a:t>FIT: rings coloured from the printer's tolerance profile (green snug · yellow running · red sloppy/tight).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Measure three things, then sell it</a:t>
            </a:r>
            <a:endParaRPr lang="en-US" sz="3000" dirty="0"/>
          </a:p>
        </p:txBody>
      </p:sp>
      <p:sp>
        <p:nvSpPr>
          <p:cNvPr id="3" name="measure"/>
          <p:cNvSpPr txBox="1"/>
          <p:nvPr/>
        </p:nvSpPr>
        <p:spPr>
          <a:xfrm>
            <a:off x="457200" y="1143000"/>
            <a:ext cx="40233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Caliper the SG90: body, tab span, hole pitch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Print + measure the hole coupon (9 holes, 46 min)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Weigh the parts; read the spool's datasheet</a:t>
            </a:r>
            <a:endParaRPr lang="en-US" sz="1600" dirty="0"/>
          </a:p>
        </p:txBody>
      </p:sp>
      <p:sp>
        <p:nvSpPr>
          <p:cNvPr id="4" name="mnote"/>
          <p:cNvSpPr txBox="1"/>
          <p:nvPr/>
        </p:nvSpPr>
        <p:spPr>
          <a:xfrm>
            <a:off x="457200" y="2834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8F98"/>
                </a:solidFill>
              </a:rPr>
              <a:t>12 UNVERIFIED tiles turn PASS or FAIL — both are useful.</a:t>
            </a:r>
            <a:endParaRPr lang="en-US" sz="1200" dirty="0"/>
          </a:p>
        </p:txBody>
      </p:sp>
      <p:sp>
        <p:nvSpPr>
          <p:cNvPr id="5" name="offer"/>
          <p:cNvSpPr/>
          <p:nvPr/>
        </p:nvSpPr>
        <p:spPr>
          <a:xfrm>
            <a:off x="4846320" y="1143000"/>
            <a:ext cx="3840480" cy="2377440"/>
          </a:xfrm>
          <a:prstGeom prst="roundRect">
            <a:avLst>
              <a:gd name="adj" fmla="val 4615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oh"/>
          <p:cNvSpPr txBox="1"/>
          <p:nvPr/>
        </p:nvSpPr>
        <p:spPr>
          <a:xfrm>
            <a:off x="5074920" y="132588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1413"/>
                </a:solidFill>
              </a:rPr>
              <a:t>AV for your build</a:t>
            </a:r>
            <a:endParaRPr lang="en-US" sz="1800" dirty="0"/>
          </a:p>
        </p:txBody>
      </p:sp>
      <p:sp>
        <p:nvSpPr>
          <p:cNvPr id="7" name="ot"/>
          <p:cNvSpPr txBox="1"/>
          <p:nvPr/>
        </p:nvSpPr>
        <p:spPr>
          <a:xfrm>
            <a:off x="5074920" y="182880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1413"/>
                </a:solidFill>
              </a:rPr>
              <a:t>$450 — LOAD + FIT + SECURE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1413"/>
                </a:solidFill>
              </a:rPr>
              <a:t>$1,200 — + TEST, checks, MEASURE_ME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1413"/>
                </a:solidFill>
              </a:rPr>
              <a:t>First one free for a testimonial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8F98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hawarma Prints">
  <a:themeElements>
    <a:clrScheme name="Shawarma Prints">
      <a:dk1>
        <a:srgbClr val="141413"/>
      </a:dk1>
      <a:lt1>
        <a:srgbClr val="FFFFFF"/>
      </a:lt1>
      <a:dk2>
        <a:srgbClr val="26292D"/>
      </a:dk2>
      <a:lt2>
        <a:srgbClr val="E8E6E0"/>
      </a:lt2>
      <a:accent1>
        <a:srgbClr val="FF6B35"/>
      </a:accent1>
      <a:accent2>
        <a:srgbClr val="2A78D6"/>
      </a:accent2>
      <a:accent3>
        <a:srgbClr val="0CA30C"/>
      </a:accent3>
      <a:accent4>
        <a:srgbClr val="FAB219"/>
      </a:accent4>
      <a:accent5>
        <a:srgbClr val="D03B3B"/>
      </a:accent5>
      <a:accent6>
        <a:srgbClr val="8A8F98"/>
      </a:accent6>
      <a:hlink>
        <a:srgbClr val="FF6B35"/>
      </a:hlink>
      <a:folHlink>
        <a:srgbClr val="C2410C"/>
      </a:folHlink>
    </a:clrScheme>
    <a:fontScheme name="Shawarma Print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 v8 demo</dc:title>
  <dc:subject>PptxGenJS Presentation</dc:subject>
  <dc:creator>Shawarma Prints</dc:creator>
  <cp:lastModifiedBy>Shawarma Prints</cp:lastModifiedBy>
  <cp:revision>1</cp:revision>
  <dcterms:created xsi:type="dcterms:W3CDTF">2026-10-03T17:18:15Z</dcterms:created>
  <dcterms:modified xsi:type="dcterms:W3CDTF">2026-10-03T17:18:15Z</dcterms:modified>
</cp:coreProperties>
</file>